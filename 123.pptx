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0509F"/>
          </a:solidFill>
          <a:ln>
            <a:solidFill>
              <a:srgbClr val="105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7999"/>
            <a:ext cx="12192119" cy="50400"/>
          </a:xfrm>
          <a:prstGeom prst="rect">
            <a:avLst/>
          </a:prstGeom>
          <a:solidFill>
            <a:srgbClr val="002D7C"/>
          </a:solidFill>
          <a:ln>
            <a:solidFill>
              <a:srgbClr val="002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5200"/>
            <a:ext cx="11277719" cy="76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黑体"/>
              </a:rPr>
              <a:t>题目：保护动物的理论基础、现实困境与治理路径研究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4398"/>
            <a:ext cx="11277719" cy="5709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0509F"/>
                </a:solidFill>
                <a:latin typeface="黑体"/>
              </a:rPr>
              <a:t>摘要</a:t>
            </a:r>
          </a:p>
          <a:p>
            <a:r>
              <a:rPr sz="1600" b="0" i="0">
                <a:solidFill>
                  <a:srgbClr val="333333"/>
                </a:solidFill>
                <a:latin typeface="宋体"/>
              </a:rPr>
              <a:t>动物保护是生态文明建设与可持续发展战略中的关键议题。随着工业化、城市化与全球消费体系的扩张，栖息地破碎化、非法野生动物贸易、环境污染及气候变化等因素持续加剧，导致大量物种数量下降甚至濒危。本文从生态学、伦理学与公共治理视角出发，系统分析当前动物保护面临的主要问题，进一步提出以法律规制、栖息地修复、科技赋能、公众参与和国际协作为核心的综合治理路径。研究认为，动物保护不应仅停留于物种数量维持，而应转向“生态系统完整性—人类社会公平性—制度执行有效性”协同推进的系统性治理框架，以实现人与自然和谐共生。</a:t>
            </a:r>
          </a:p>
          <a:p>
            <a:r>
              <a:rPr sz="1600" b="1" i="0">
                <a:solidFill>
                  <a:srgbClr val="333333"/>
                </a:solidFill>
                <a:latin typeface="宋体"/>
              </a:rPr>
              <a:t>关键词</a:t>
            </a:r>
            <a:r>
              <a:rPr sz="1600" b="0" i="0">
                <a:solidFill>
                  <a:srgbClr val="333333"/>
                </a:solidFill>
                <a:latin typeface="宋体"/>
              </a:rPr>
              <a:t>：动物保护；生物多样性；生态治理；野生动物；可持续发展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0509F"/>
          </a:solidFill>
          <a:ln>
            <a:solidFill>
              <a:srgbClr val="105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7999"/>
            <a:ext cx="12192119" cy="50400"/>
          </a:xfrm>
          <a:prstGeom prst="rect">
            <a:avLst/>
          </a:prstGeom>
          <a:solidFill>
            <a:srgbClr val="002D7C"/>
          </a:solidFill>
          <a:ln>
            <a:solidFill>
              <a:srgbClr val="002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5200"/>
            <a:ext cx="11277719" cy="76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黑体"/>
              </a:rPr>
              <a:t>一、引言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4398"/>
            <a:ext cx="11277719" cy="5709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宋体"/>
              </a:rPr>
              <a:t>动物是生态系统结构与功能的重要组成部分，其多样性水平直接影响生态系统的稳定性、生产力与恢复力。近年来，全球生物多样性丧失趋势显著，部分旗舰物种和关键物种面临生存危机。动物保护问题已由单一的自然科学议题，演变为涵盖法律、经济、社会与伦理的复合型公共问题。\ 在此背景下，探讨动物保护的现实困境及政策优化方向，既具有理论价值，也具有明确的实践意义。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0509F"/>
          </a:solidFill>
          <a:ln>
            <a:solidFill>
              <a:srgbClr val="105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7999"/>
            <a:ext cx="12192119" cy="50400"/>
          </a:xfrm>
          <a:prstGeom prst="rect">
            <a:avLst/>
          </a:prstGeom>
          <a:solidFill>
            <a:srgbClr val="002D7C"/>
          </a:solidFill>
          <a:ln>
            <a:solidFill>
              <a:srgbClr val="002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5200"/>
            <a:ext cx="11277719" cy="76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黑体"/>
              </a:rPr>
              <a:t>二、动物保护的现实困境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4398"/>
            <a:ext cx="11277719" cy="5709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0509F"/>
                </a:solidFill>
                <a:latin typeface="黑体"/>
              </a:rPr>
              <a:t>2.1 栖息地丧失与破碎化</a:t>
            </a:r>
          </a:p>
          <a:p>
            <a:r>
              <a:rPr sz="1600" b="0" i="0">
                <a:solidFill>
                  <a:srgbClr val="333333"/>
                </a:solidFill>
                <a:latin typeface="宋体"/>
              </a:rPr>
              <a:t>土地开发、基础设施建设与农业扩张持续压缩野生动物生境，导致迁徙通道中断、种群隔离加剧、基因交流受限。栖息地破碎化使物种更易受到外来入侵、疫病传播和局地灭绝风险影响。</a:t>
            </a:r>
          </a:p>
          <a:p>
            <a:r>
              <a:rPr sz="1800" b="1" i="0">
                <a:solidFill>
                  <a:srgbClr val="10509F"/>
                </a:solidFill>
                <a:latin typeface="黑体"/>
              </a:rPr>
              <a:t>2.2 非法猎捕与野生动物贸易</a:t>
            </a:r>
          </a:p>
          <a:p>
            <a:r>
              <a:rPr sz="1600" b="0" i="0">
                <a:solidFill>
                  <a:srgbClr val="333333"/>
                </a:solidFill>
                <a:latin typeface="宋体"/>
              </a:rPr>
              <a:t>非法猎捕及跨境交易仍是威胁珍稀动物存续的重要因素。其背后涉及高利润驱动、监管链条薄弱与消费端需求持续存在等结构性问题，单一执法手段难以根治。</a:t>
            </a:r>
          </a:p>
          <a:p>
            <a:r>
              <a:rPr sz="1800" b="1" i="0">
                <a:solidFill>
                  <a:srgbClr val="10509F"/>
                </a:solidFill>
                <a:latin typeface="黑体"/>
              </a:rPr>
              <a:t>2.3 污染与气候变化的叠加效应</a:t>
            </a:r>
          </a:p>
          <a:p>
            <a:r>
              <a:rPr sz="1600" b="0" i="0">
                <a:solidFill>
                  <a:srgbClr val="333333"/>
                </a:solidFill>
                <a:latin typeface="宋体"/>
              </a:rPr>
              <a:t>水体、土壤与海洋污染通过食物链传递造成慢性毒害，影响动物繁殖与生理健康。与此同时，气候变化改变了温度、降水和季节节律，迫使物种迁移或适应，部分生态位高度专一的物种难以快速响应。</a:t>
            </a:r>
          </a:p>
          <a:p>
            <a:r>
              <a:rPr sz="1800" b="1" i="0">
                <a:solidFill>
                  <a:srgbClr val="10509F"/>
                </a:solidFill>
                <a:latin typeface="黑体"/>
              </a:rPr>
              <a:t>2.4 社会认知与治理执行不足</a:t>
            </a:r>
          </a:p>
          <a:p>
            <a:r>
              <a:rPr sz="1600" b="0" i="0">
                <a:solidFill>
                  <a:srgbClr val="333333"/>
                </a:solidFill>
                <a:latin typeface="宋体"/>
              </a:rPr>
              <a:t>部分地区公众保护意识不足，社区参与机制不健全；同时，跨部门协同和执法资源配置不均，造成“政策目标明确、落地效果有限”的现实落差。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0509F"/>
          </a:solidFill>
          <a:ln>
            <a:solidFill>
              <a:srgbClr val="105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7999"/>
            <a:ext cx="12192119" cy="50400"/>
          </a:xfrm>
          <a:prstGeom prst="rect">
            <a:avLst/>
          </a:prstGeom>
          <a:solidFill>
            <a:srgbClr val="002D7C"/>
          </a:solidFill>
          <a:ln>
            <a:solidFill>
              <a:srgbClr val="002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5200"/>
            <a:ext cx="11277719" cy="76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黑体"/>
              </a:rPr>
              <a:t>三、动物保护的理论基础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4398"/>
            <a:ext cx="11277719" cy="5709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0509F"/>
                </a:solidFill>
                <a:latin typeface="黑体"/>
              </a:rPr>
              <a:t>3.1 生态系统整体性理论</a:t>
            </a:r>
          </a:p>
          <a:p>
            <a:r>
              <a:rPr sz="1600" b="0" i="0">
                <a:solidFill>
                  <a:srgbClr val="333333"/>
                </a:solidFill>
                <a:latin typeface="宋体"/>
              </a:rPr>
              <a:t>动物保护应从“单物种救助”扩展至“生态系统整体修复”，关注食物网关系、栖息地连通性与生态过程完整性，以提升系统层面的稳定性。</a:t>
            </a:r>
          </a:p>
          <a:p>
            <a:r>
              <a:rPr sz="1800" b="1" i="0">
                <a:solidFill>
                  <a:srgbClr val="10509F"/>
                </a:solidFill>
                <a:latin typeface="黑体"/>
              </a:rPr>
              <a:t>3.2 环境伦理与生命共同体理念</a:t>
            </a:r>
          </a:p>
          <a:p>
            <a:r>
              <a:rPr sz="1600" b="0" i="0">
                <a:solidFill>
                  <a:srgbClr val="333333"/>
                </a:solidFill>
                <a:latin typeface="宋体"/>
              </a:rPr>
              <a:t>动物不仅具有生态工具价值，也具有内在生命价值。生命共同体理念强调人类与其他生命形式的共生关系，为保护政策提供伦理正当性。</a:t>
            </a:r>
          </a:p>
          <a:p>
            <a:r>
              <a:rPr sz="1800" b="1" i="0">
                <a:solidFill>
                  <a:srgbClr val="10509F"/>
                </a:solidFill>
                <a:latin typeface="黑体"/>
              </a:rPr>
              <a:t>3.3 公共治理与多中心协同</a:t>
            </a:r>
          </a:p>
          <a:p>
            <a:r>
              <a:rPr sz="1600" b="0" i="0">
                <a:solidFill>
                  <a:srgbClr val="333333"/>
                </a:solidFill>
                <a:latin typeface="宋体"/>
              </a:rPr>
              <a:t>动物保护具有典型公共品属性，需要政府、市场、社会组织、科研机构和社区共同参与。多中心治理能够在信息、资源与执行层面形成互补，提高政策适配性与持续性。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0509F"/>
          </a:solidFill>
          <a:ln>
            <a:solidFill>
              <a:srgbClr val="105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7999"/>
            <a:ext cx="12192119" cy="50400"/>
          </a:xfrm>
          <a:prstGeom prst="rect">
            <a:avLst/>
          </a:prstGeom>
          <a:solidFill>
            <a:srgbClr val="002D7C"/>
          </a:solidFill>
          <a:ln>
            <a:solidFill>
              <a:srgbClr val="002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5200"/>
            <a:ext cx="11277719" cy="76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黑体"/>
              </a:rPr>
              <a:t>四、动物保护的治理路径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4398"/>
            <a:ext cx="11277719" cy="5709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0509F"/>
                </a:solidFill>
                <a:latin typeface="黑体"/>
              </a:rPr>
              <a:t>4.1 完善法律制度与执法机制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细化濒危物种分级保护与动态名录更新机制。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强化司法衔接，提高非法猎捕与交易的违法成本。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建立跨区域、跨部门联合执法平台，提升案件追溯能力。</a:t>
            </a:r>
          </a:p>
          <a:p>
            <a:r>
              <a:rPr sz="1800" b="1" i="0">
                <a:solidFill>
                  <a:srgbClr val="10509F"/>
                </a:solidFill>
                <a:latin typeface="黑体"/>
              </a:rPr>
              <a:t>4.2 推进栖息地保护与生态修复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构建以国家公园、自然保护区和生态廊道为核心的生境网络。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对关键繁殖地、越冬地与迁飞通道实施分区分级管理。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通过退化生态系统修复，恢复食物链结构与生态功能。</a:t>
            </a:r>
          </a:p>
          <a:p>
            <a:r>
              <a:rPr sz="1800" b="1" i="0">
                <a:solidFill>
                  <a:srgbClr val="10509F"/>
                </a:solidFill>
                <a:latin typeface="黑体"/>
              </a:rPr>
              <a:t>4.3 强化科技支撑能力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运用遥感监测、红外相机、环境DNA等技术开展长期监测。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建立物种数据库与风险预警模型，提升决策科学性。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推动智慧巡护与数字执法，降低监管盲区。</a:t>
            </a:r>
          </a:p>
          <a:p>
            <a:r>
              <a:rPr sz="1800" b="1" i="0">
                <a:solidFill>
                  <a:srgbClr val="10509F"/>
                </a:solidFill>
                <a:latin typeface="黑体"/>
              </a:rPr>
              <a:t>4.4 建立社区共治与激励机制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将社区居民纳入巡护、监测与生态补偿体系。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发展生态友好型产业，减少对野生动物资源的依赖。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通过环境教育提升公众保护意识，形成社会监督网络。</a:t>
            </a:r>
          </a:p>
          <a:p>
            <a:r>
              <a:rPr sz="1800" b="1" i="0">
                <a:solidFill>
                  <a:srgbClr val="10509F"/>
                </a:solidFill>
                <a:latin typeface="黑体"/>
              </a:rPr>
              <a:t>4.5 深化国际合作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加强跨境栖息地与迁徙物种联合保护。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完善野生动物贸易信息共享与执法协作。</a:t>
            </a:r>
          </a:p>
          <a:p>
            <a:r>
              <a:rPr sz="1500" b="0" i="0">
                <a:solidFill>
                  <a:srgbClr val="333333"/>
                </a:solidFill>
                <a:latin typeface="宋体"/>
              </a:rPr>
              <a:t>• 在全球治理框架下推动资金、技术与能力建设支持。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0509F"/>
          </a:solidFill>
          <a:ln>
            <a:solidFill>
              <a:srgbClr val="105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7999"/>
            <a:ext cx="12192119" cy="50400"/>
          </a:xfrm>
          <a:prstGeom prst="rect">
            <a:avLst/>
          </a:prstGeom>
          <a:solidFill>
            <a:srgbClr val="002D7C"/>
          </a:solidFill>
          <a:ln>
            <a:solidFill>
              <a:srgbClr val="002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5200"/>
            <a:ext cx="11277719" cy="76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黑体"/>
              </a:rPr>
              <a:t>五、典型实践启示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4398"/>
            <a:ext cx="11277719" cy="5709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宋体"/>
              </a:rPr>
              <a:t>以保护地体系建设为代表的实践表明，当法律规制、生态修复和社区参与形成闭环时，部分濒危物种种群能够实现阶段性恢复。其核心经验在于：明确责任主体、稳定资金来源、依托科学监测进行适应性管理，以及将地方发展需求与保护目标统筹考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0509F"/>
          </a:solidFill>
          <a:ln>
            <a:solidFill>
              <a:srgbClr val="1050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7999"/>
            <a:ext cx="12192119" cy="50400"/>
          </a:xfrm>
          <a:prstGeom prst="rect">
            <a:avLst/>
          </a:prstGeom>
          <a:solidFill>
            <a:srgbClr val="002D7C"/>
          </a:solidFill>
          <a:ln>
            <a:solidFill>
              <a:srgbClr val="002D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5200"/>
            <a:ext cx="11277719" cy="763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黑体"/>
              </a:rPr>
              <a:t>六、结论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4398"/>
            <a:ext cx="11277719" cy="5709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宋体"/>
              </a:rPr>
              <a:t>动物保护是生态安全、公共健康与人类长远福祉的重要基础。面对多重风险叠加的现实，应从“应急式保护”转向“系统性治理”，通过法治保障、科学管理、社会协同与国际合作，构建长期、稳定、可评估的保护机制。未来研究可进一步关注保护政策绩效评估、保护与发展协同模型以及新兴技术在野生动物治理中的伦理边界，以推动动物保护事业向更高质量发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